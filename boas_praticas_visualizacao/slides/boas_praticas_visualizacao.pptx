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Este material tem duas partes: primeiro os conceitos, sem depender de uma base específica; depois a prática, com os scripts em Streamlit desta pasta, sempre mostrando o mesmo dado num gráfico ruim e num bom.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Seção 1 são 11 slides genéricos sobre tipos de gráfico. Seção 2 são 10 slides ligados aos scripts desta pasta. A ideia central: comece pela pergunta, escolha a forma, e só depois pense em cor e detalhes.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abrir qualquer ferramenta, escreva a pergunta que o gráfico deve responder. O verbo da pergunta escolhe a família de gráficos. Todos os exemplos seguintes seguem esta 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Barras são o gráfico mais fácil de ler porque comparamos comprimentos alinhados. Por isso a base em zero é inegociável.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Linhas mostram a forma da mudança. Séries em dinheiro, como o PIB nominal, misturam crescimento real e inflação: avise o leitor.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histograma responde 'como se distribuem?'. Com dados muito assimétricos, como o PIB per capita municipal, a escala linear joga quase tudo numa barra.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box plot resume uma distribuição em cinco números. Vale explicar a leitura uma vez, com um exemplo.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dispersão mostra padrão e exceções. Retas de referência ajudam a ler a distância até uma razão constante.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mapa de totais mostra onde há mais gente. Para ver desigualdade, normalize por habitante.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olho compara comprimentos melhor que ângulos ou áreas. Barras ordenadas costumam vencer a pizza.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Heatmaps transformam uma tabela em padrões. Pequenos múltiplos evitam o espaguete: em vez de 5 linhas juntas, cinco painéis com a mesma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Regra prática: azul para os dados, laranja para o destaque, cinza para o contexto. É a que os scripts seguem.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Estes são os três erros mais comuns dos exemplos da Seção 2, mostrados na versão 'antes'. Eixo duplo e 3D não aparecem nos scripts, mas valem o alerta: o alinhamento das duas escalas é arbitrário e pode inventar uma correlação.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base é pública e vem direto da API do IBGE, sem chave. Uso 2021 porque é o último ano com o valor adicionado por setor divulgado para todos os municípios. O PIB é nominal (preços correntes). O PIB per capita de qualquer agregado é a soma do PIB dividida pela soma da população, nunca a média dos municípios.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Mesmo dado, duas leituras. À esquerda o leitor precisa decorar cores e adivinhar a ordem; à direita o ranking é imediato. Dado-chave: São Paulo, R$ 2.720 bi; Goiás é a 9ª com R$ 270 bi. O que atrapalha no 'antes': Ordem alfabética: o leitor não vê o ranking; Uma cor por UF: cor sem significado e legenda de 27 itens; Eixo truncado em R$ 150 bi: UFs menores desaparecem e as diferenças ficam exageradas. O que foi feito no 'depois': Ordenar do maior para o menor; Uma cor só; laranja apenas no destaque; Base em zero; Barras horizontais: nomes longos ficam legíveis; Valor na ponta da barra, sem eixo redundante. Abra a página E1 do app para ver a tabela de dados e trocar a UF em destaque.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Índice base 2002 = 100 compara o ritmo de crescimento, não o tamanho. O PIB é nominal: parte do crescimento é inflação. Dado-chave: Brasil 735 e Goiás 872 (índice, 2002 = 100, nominal). O que atrapalha no 'antes': 27 linhas iguais: 'espaguete' ilegível; Valor absoluto: só São Paulo aparece, o resto vira uma faixa plana; Legenda com 27 cores para casar de cabeça. O que foi feito no 'depois': Destacar 2 a 4 séries e deixar o resto em cinza (contexto); Índice base 2002 = 100: compara o ritmo, não o tamanho; Rótulo direto no fim da linha, sem legenda; Deixar claro que o PIB é nominal (preços correntes). Abra a página E2 do app para ver a tabela de dados e trocar a UF em destaque.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 escala linear, 5.500 municípios caem numa barra. Na escala log a distribuição aparece e a mediana se destaca. Dado-chave: mediana R$ 23 mil; máximo R$ 921 mil, 39 vezes a mediana. O que atrapalha no 'antes': Escala linear: a cauda longa (máx. 39× a mediana) espreme 5.500 municípios numa única barra; Poucas faixas (10) escondem a forma da distribuição; Título de eixo cru ('count'). O que foi feito no 'depois': Escala log quando a distribuição é muito assimétrica; Faixas suficientes para mostrar a forma (40); Marcar a mediana; Eixos em reais legíveis (R$ 10 mil). Abra a página E3 do app para ver a tabela de dados e trocar a UF em destaque.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eixo log permite ver as caixas. A região da UF escolhida ganha cor; as demais ficam em cinza. Dado-chave: mediana de R$ 43 mil no Sul e R$ 11 mil no Nordeste. O que atrapalha no 'antes': Escala linear: os pontos extremos esmagam as caixas; Uma cor por região repete o que o eixo já diz; Ordem alfabética das regiões. O que foi feito no 'depois': Eixo log para ver as caixas; Ordenar pela mediana; Uma cor de destaque (região da UF escolhida), o resto cinza; Mediana escrita no rótulo do eixo. Abra a página E4 do app para ver a tabela de dados e trocar a UF em destaque.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retas cinzas são PIB per capita constante: quanto mais acima da reta, mais rico por habitante. Dado-chave: Catas Altas (MG) tem R$ 921 mil por habitante com 5.465 moradores. O que atrapalha no 'antes': Escala linear: 5.570 pontos amontoados no canto; Pontos sobrepostos escondem a densidade; Nenhum caso rotulado. O que foi feito no 'depois': Log nos dois eixos (a relação é proporcional); Transparência para mostrar a densidade; Retas de PIB per capita constante: a distância até a reta é a informação; Rotular só os casos-chave. Abra a página E5 do app para ver a tabela de dados e trocar a UF em destaque.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mapa de valor absoluto e o de per capita contam histórias opostas. O da direita usa cinco faixas com o mesmo número de UFs. Dado-chave: o PIB per capita vai de R$ 17 mil (MA) a R$ 93 mil (DF). O que atrapalha no 'antes': Valor absoluto: o mapa só mostra onde há mais gente (SP, RJ, MG); Arco-íris: sem ordem natural, ruim para daltônicos; Escala contínua difícil de ler. O que foi feito no 'depois': Normalizar por habitante (PIB per capita); Escala sequencial de um só matiz; 5 faixas com o mesmo nº de UFs (quantis); Legenda com valores em reais; Estado escolhido contornado em laranja. Abra a página E6 do app para ver a tabela de dados e trocar a UF em destaque.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vez de 27 fatias, oito barras e um bloco 'Demais'. A frase de conclusão está no próprio gráfico. Dado-chave: SP, RJ, MG somam 50,2% do PIB. O que atrapalha no 'antes': 27 fatias: impossível comparar ângulos; Legenda com cores repetidas; Fatias pequenas ilegíveis. O que foi feito no 'depois': Top 8 + 'Demais', em barras ordenadas; Percentual escrito na barra; Uma frase com a conclusão (SP + RJ + MG). Abra a página E7 do app para ver a tabela de dados e trocar a UF em destaque.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 valores absolutos, São Paulo domina tudo. Com percentuais, cada UF mostra a sua estrutura. Dado-chave: a administração pública pesa 46% do valor adicionado no AP e 9% em SP. O que atrapalha no 'antes': Valores absolutos: São Paulo vermelho em tudo, o resto azul; Arco-íris sem números; Ordem alfabética. O que foi feito no 'depois': Trabalhar com participação (%), que permite comparar UFs de tamanhos diferentes; Escala sequencial de um matiz; Valor escrito em cada célula; Ordenar pela coluna que conta a história. Abra a página E8 do app para ver a tabela de dados e trocar a UF em destaque.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Streamlit troca de tema no navegador e o Python não sabe com segurança qual está ativo. Por isso as figuras não dependem do tema: fundo transparente, texto e grade herdados, cores validadas contra fundo branco e escuro e tons neutros com transparência. O mapa não usa camada de fundo, que seria clara ou escura, nunca as duas.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Feche com o checklist: são as perguntas que fazemos antes de publicar qualquer gráfico. Os scripts, a base e os slides estão na pasta boas_praticas_visualizacao do repositório.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" y="960120"/>
            <a:ext cx="201168" cy="201168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89611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9FB3C8"/>
                </a:solidFill>
                <a:latin typeface="Calibri"/>
              </a:rPr>
              <a:t>VISUALIZAÇÃO DE DADOS E USABILIDADE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Boas práticas de</a:t>
            </a:r>
          </a:p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visualização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  <a:latin typeface="Calibri"/>
              </a:rPr>
              <a:t>Do tipo de gráfico à leitura clara: conceitos e exemplos com dados públicos do IBGE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25780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D9592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PIB e população · 5.570 municípios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525780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1C3A5A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Scripts em 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FB3C8"/>
                </a:solidFill>
                <a:latin typeface="Calibri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F2933"/>
                </a:solidFill>
                <a:latin typeface="Calibri"/>
              </a:rPr>
              <a:t>O que vamos 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5B6770"/>
                </a:solidFill>
                <a:latin typeface="Calibri"/>
              </a:rPr>
              <a:t>Um gráfico é a resposta a uma pergunta. Se a resposta demora a aparecer, o gráfico falhou.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5394960" cy="3931920"/>
          </a:xfrm>
          <a:prstGeom prst="roundRect">
            <a:avLst>
              <a:gd name="adj" fmla="val 2790"/>
            </a:avLst>
          </a:prstGeom>
          <a:solidFill>
            <a:srgbClr val="E6F0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514600"/>
            <a:ext cx="822960" cy="822960"/>
          </a:xfrm>
          <a:prstGeom prst="ellipse">
            <a:avLst/>
          </a:prstGeom>
          <a:solidFill>
            <a:srgbClr val="3987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60604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Conceitos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2933"/>
                </a:solidFill>
                <a:latin typeface="Calibri"/>
              </a:rPr>
              <a:t>Os principais tipos de gráfico, quando usar cada um e as regras que os deixam claros.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11 slides · barras, linhas, histograma, box plot, dispersão, mapa, composição, heatmap, cor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48840"/>
            <a:ext cx="5394960" cy="3931920"/>
          </a:xfrm>
          <a:prstGeom prst="roundRect">
            <a:avLst>
              <a:gd name="adj" fmla="val 2790"/>
            </a:avLst>
          </a:prstGeom>
          <a:solidFill>
            <a:srgbClr val="FCEB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0" y="2514600"/>
            <a:ext cx="822960" cy="822960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5146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60604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F2933"/>
                </a:solidFill>
                <a:latin typeface="Calibri"/>
              </a:rPr>
              <a:t>Na prática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657600"/>
            <a:ext cx="46634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F2933"/>
                </a:solidFill>
                <a:latin typeface="Calibri"/>
              </a:rPr>
              <a:t>Oito exemplos com os mesmos dados: o gráfico ruim ao lado do bom, feitos nos scripts em Streamlit.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120640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10 slides · da base do IBGE ao checklist final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3987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Calibri"/>
              </a:rPr>
              <a:t>SEÇÃO 1 · CONCEITOS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Comece pela pergunta, não pelo gráfico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" y="1691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659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5926"/>
                </a:solidFill>
                <a:latin typeface="Calibri"/>
              </a:rPr>
              <a:t>Comparar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53288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770"/>
                </a:solidFill>
                <a:latin typeface="Calibri"/>
              </a:rPr>
              <a:t>Qual é maior?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63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3"/>
                </a:solidFill>
                <a:latin typeface="Calibri"/>
              </a:rPr>
              <a:t>Barras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91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9659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5926"/>
                </a:solidFill>
                <a:latin typeface="Calibri"/>
              </a:rPr>
              <a:t>Evoluir no tempo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53288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770"/>
                </a:solidFill>
                <a:latin typeface="Calibri"/>
              </a:rPr>
              <a:t>Como mudou?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3063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3"/>
                </a:solidFill>
                <a:latin typeface="Calibri"/>
              </a:rPr>
              <a:t>Linhas · áreas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0728" y="169164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9659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5926"/>
                </a:solidFill>
                <a:latin typeface="Calibri"/>
              </a:rPr>
              <a:t>Distribuir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53288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770"/>
                </a:solidFill>
                <a:latin typeface="Calibri"/>
              </a:rPr>
              <a:t>Como se espalham os valores?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3063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3"/>
                </a:solidFill>
                <a:latin typeface="Calibri"/>
              </a:rPr>
              <a:t>Histograma · box plot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7" y="39319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4206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5926"/>
                </a:solidFill>
                <a:latin typeface="Calibri"/>
              </a:rPr>
              <a:t>Relacionar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77316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770"/>
                </a:solidFill>
                <a:latin typeface="Calibri"/>
              </a:rPr>
              <a:t>Uma medida acompanha a outra?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53035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3"/>
                </a:solidFill>
                <a:latin typeface="Calibri"/>
              </a:rPr>
              <a:t>Dispersão · bolhas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9319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4206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5926"/>
                </a:solidFill>
                <a:latin typeface="Calibri"/>
              </a:rPr>
              <a:t>Compor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477316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770"/>
                </a:solidFill>
                <a:latin typeface="Calibri"/>
              </a:rPr>
              <a:t>Quanto cada parte pesa?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53035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3"/>
                </a:solidFill>
                <a:latin typeface="Calibri"/>
              </a:rPr>
              <a:t>Barras empilhadas · treemap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0728" y="39319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420624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95926"/>
                </a:solidFill>
                <a:latin typeface="Calibri"/>
              </a:rPr>
              <a:t>Localizar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477316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B6770"/>
                </a:solidFill>
                <a:latin typeface="Calibri"/>
              </a:rPr>
              <a:t>Onde acontece?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53035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3"/>
                </a:solidFill>
                <a:latin typeface="Calibri"/>
              </a:rPr>
              <a:t>Mapa coroplético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3987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Calibri"/>
              </a:rPr>
              <a:t>SEÇÃO 1 · CONCEITOS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Barras: a escolha segura para comparar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QUANDO USAR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21408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Comparar valores entre categorias: quem é maior e por quanto.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4480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Ordene do maior para o menor</a:t>
            </a:r>
          </a:p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 base em zero: o comprimento é o dado</a:t>
            </a:r>
          </a:p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Horizontais quando os nomes são longos</a:t>
            </a:r>
          </a:p>
          <a:p>
            <a:pPr marL="256032" indent="-256032"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Uma cor só; destaque apenas o que importa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4924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CEB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D95926"/>
                </a:solidFill>
                <a:latin typeface="Calibri"/>
              </a:rPr>
              <a:t>Cuidado: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eixo truncado exagera diferenças e engana o leitor.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45836" y="1618488"/>
            <a:ext cx="5879592" cy="4672584"/>
          </a:xfrm>
          <a:prstGeom prst="roundRect">
            <a:avLst>
              <a:gd name="adj" fmla="val 1565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E1_b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8988" y="1691640"/>
            <a:ext cx="5733288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3987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Calibri"/>
              </a:rPr>
              <a:t>SEÇÃO 1 · CONCEITOS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Linhas e áreas: para mostrar tempo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5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9752" y="169164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QUANDO USAR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9752" y="2121408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Evolução ao longo do tempo. Áreas empilhadas quando a soma das partes também importa.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3017520"/>
            <a:ext cx="4480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Tempo sempre no eixo horizontal</a:t>
            </a:r>
          </a:p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Poucas séries; destaque 2 a 4 e deixe o resto em cinza</a:t>
            </a:r>
          </a:p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Rótulo direto no fim da linha ou legenda curta</a:t>
            </a:r>
          </a:p>
          <a:p>
            <a:pPr marL="256032" indent="-256032"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Diga se os valores são nominais ou reais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9752" y="534924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CEB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8352" y="534924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D95926"/>
                </a:solidFill>
                <a:latin typeface="Calibri"/>
              </a:rPr>
              <a:t>Cuidado: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muitas linhas iguais viram espaguete ilegível.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2036785"/>
            <a:ext cx="6455664" cy="3835988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cat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9937"/>
            <a:ext cx="6309360" cy="36896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3987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Calibri"/>
              </a:rPr>
              <a:t>SEÇÃO 1 · CONCEITOS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Histograma: mostra a forma da distribuição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6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QUANDO USAR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21408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Ver como os valores de uma única medida se espalham: onde concentram e onde há cauda.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4480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Escolha faixas suficientes para ver a forma</a:t>
            </a:r>
          </a:p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Distribuição muito assimétrica pede escala log</a:t>
            </a:r>
          </a:p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Marque a mediana ou uma referência</a:t>
            </a:r>
          </a:p>
          <a:p>
            <a:pPr marL="256032" indent="-256032"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Barras encostadas: cada uma é um intervalo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4924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CEB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D95926"/>
                </a:solidFill>
                <a:latin typeface="Calibri"/>
              </a:rPr>
              <a:t>Cuidado: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poucas faixas escondem a forma; muitas viram ruído.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852301"/>
            <a:ext cx="6455664" cy="4204956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E3_b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52" y="1925453"/>
            <a:ext cx="6309360" cy="40586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3987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Calibri"/>
              </a:rPr>
              <a:t>SEÇÃO 1 · CONCEITOS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Box plot: compara distribuições entre grupos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9752" y="169164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QUANDO USAR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9752" y="2121408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Comparar várias distribuições lado a lado, com mediana, quartis e valores extremos.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3017520"/>
            <a:ext cx="4480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 caixa guarda a metade central dos casos; o traço é a mediana</a:t>
            </a:r>
          </a:p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Os pontos são casos extremos, não erros</a:t>
            </a:r>
          </a:p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Ordene os grupos pela mediana</a:t>
            </a:r>
          </a:p>
          <a:p>
            <a:pPr marL="256032" indent="-256032"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Poucos dados por grupo? Prefira mostrar os pontos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9752" y="534924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CEB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8352" y="534924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D95926"/>
                </a:solidFill>
                <a:latin typeface="Calibri"/>
              </a:rPr>
              <a:t>Cuidado: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sem explicar a leitura, o público não técnico não entende a caixa.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1852301"/>
            <a:ext cx="6455664" cy="4204956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E4_b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5453"/>
            <a:ext cx="6309360" cy="40586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3987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Calibri"/>
              </a:rPr>
              <a:t>SEÇÃO 1 · CONCEITOS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Dispersão: relação entre duas medidas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QUANDO USAR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21408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Ver se duas medidas andam juntas e quais casos fogem do padrão.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4480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Correlação não é causa</a:t>
            </a:r>
          </a:p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Escala log quando os dados variam em ordens de grandeza</a:t>
            </a:r>
          </a:p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Transparência quando os pontos se sobrepõem</a:t>
            </a:r>
          </a:p>
          <a:p>
            <a:pPr marL="256032" indent="-256032"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Rotule só os casos-chave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4924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CEB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D95926"/>
                </a:solidFill>
                <a:latin typeface="Calibri"/>
              </a:rPr>
              <a:t>Cuidado: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milhares de pontos sem transparência viram uma mancha.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852301"/>
            <a:ext cx="6455664" cy="4204956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E5_b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52" y="1925453"/>
            <a:ext cx="6309360" cy="40586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3987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Calibri"/>
              </a:rPr>
              <a:t>SEÇÃO 1 · CONCEITOS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Mapas: use quando o lugar importa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9752" y="169164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QUANDO USAR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9752" y="2121408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Comparar regiões quando a localização é parte da resposta.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3017520"/>
            <a:ext cx="4480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Normalize: taxa per capita, não o total</a:t>
            </a:r>
          </a:p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Coroplético pinta áreas; bolhas marcam pontos</a:t>
            </a:r>
          </a:p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Escala de um matiz, em faixas por quantis</a:t>
            </a:r>
          </a:p>
          <a:p>
            <a:pPr marL="256032" indent="-256032"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Legenda com valores e unidades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9752" y="534924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CEB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8352" y="534924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D95926"/>
                </a:solidFill>
                <a:latin typeface="Calibri"/>
              </a:rPr>
              <a:t>Cuidado: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mapa de valor absoluto quase sempre repete o mapa da população.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1852301"/>
            <a:ext cx="6455664" cy="4204956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E6_b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5453"/>
            <a:ext cx="6309360" cy="40586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3987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Calibri"/>
              </a:rPr>
              <a:t>SEÇÃO 1 · CONCEITOS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Composição: partes de um todo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QUANDO USAR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21408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Mostrar quanto cada parte pesa no total, ou como a composição muda entre grupos.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4480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Pizza só com poucas fatias e diferenças grandes</a:t>
            </a:r>
          </a:p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Barras empilhadas 100% comparam composições</a:t>
            </a:r>
          </a:p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Treemap: hierarquia e proporção pela área</a:t>
            </a:r>
          </a:p>
          <a:p>
            <a:pPr marL="256032" indent="-256032"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Agrupe a cauda em 'Demais'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4924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CEB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4924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D95926"/>
                </a:solidFill>
                <a:latin typeface="Calibri"/>
              </a:rPr>
              <a:t>Cuidado: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comparar ângulos de fatias é difícil para o olho.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036785"/>
            <a:ext cx="6455664" cy="3835988"/>
          </a:xfrm>
          <a:prstGeom prst="roundRect">
            <a:avLst>
              <a:gd name="adj" fmla="val 1906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cat_tre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952" y="2109937"/>
            <a:ext cx="6309360" cy="36896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3987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Calibri"/>
              </a:rPr>
              <a:t>SEÇÃO 1 · CONCEITOS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Muitos números? Use cor ou repita o gráfico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1268" y="1618488"/>
            <a:ext cx="4489704" cy="3575304"/>
          </a:xfrm>
          <a:prstGeom prst="roundRect">
            <a:avLst>
              <a:gd name="adj" fmla="val 2046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E8_b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" y="1691640"/>
            <a:ext cx="4343400" cy="3429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285232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987E5"/>
                </a:solidFill>
                <a:latin typeface="Calibri"/>
              </a:rPr>
              <a:t>Heatmap: padrões numa tabela grande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2071009"/>
            <a:ext cx="5541264" cy="2670261"/>
          </a:xfrm>
          <a:prstGeom prst="roundRect">
            <a:avLst>
              <a:gd name="adj" fmla="val 2739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cat_small_multi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44161"/>
            <a:ext cx="5394960" cy="25239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285232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987E5"/>
                </a:solidFill>
                <a:latin typeface="Calibri"/>
              </a:rPr>
              <a:t>Pequenos múltiplos: uma forma por painel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200"/>
              </a:spcAft>
              <a:buClr>
                <a:srgbClr val="D95926"/>
              </a:buClr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Heatmap: escala de um matiz, valores escritos, linhas ordenadas</a:t>
            </a:r>
          </a:p>
          <a:p>
            <a:pPr marL="256032" indent="-256032">
              <a:buClr>
                <a:srgbClr val="D95926"/>
              </a:buClr>
              <a:buFont typeface="Arial"/>
              <a:buChar char="•"/>
            </a:pPr>
            <a:r>
              <a:rPr sz="1400" b="0" i="0">
                <a:solidFill>
                  <a:srgbClr val="1F2933"/>
                </a:solidFill>
                <a:latin typeface="Calibri"/>
              </a:rPr>
              <a:t>Pequenos múltiplos: mesmo eixo em todos os painéis, para comparar formas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3987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Calibri"/>
              </a:rPr>
              <a:t>SEÇÃO 1 · CONCEITOS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Cor, acessibilidade e tema claro e escuro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59752" y="169164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QUANDO USAR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9752" y="2121408"/>
            <a:ext cx="4480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3"/>
                </a:solidFill>
                <a:latin typeface="Calibri"/>
              </a:rPr>
              <a:t>Cor é um canal de informação, não enfeite. Cada tipo de dado pede um tipo de paleta.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752" y="3017520"/>
            <a:ext cx="4480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Categórica para identidade, sequencial para magnitude, divergente para dois lados</a:t>
            </a:r>
          </a:p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Nunca só cor: use rótulo, posição ou forma também</a:t>
            </a:r>
          </a:p>
          <a:p>
            <a:pPr marL="256032" indent="-256032">
              <a:spcAft>
                <a:spcPts val="800"/>
              </a:spcAft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Cerca de 8% dos homens têm daltonismo; evite o arco-íris</a:t>
            </a:r>
          </a:p>
          <a:p>
            <a:pPr marL="256032" indent="-256032">
              <a:buClr>
                <a:srgbClr val="D95926"/>
              </a:buClr>
              <a:buFont typeface="Arial"/>
              <a:buChar char="•"/>
            </a:pPr>
            <a:r>
              <a:rPr sz="1500" b="0" i="0">
                <a:solidFill>
                  <a:srgbClr val="1F2933"/>
                </a:solidFill>
                <a:latin typeface="Calibri"/>
              </a:rPr>
              <a:t>Teste em tema claro e escuro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59752" y="5349240"/>
            <a:ext cx="4480560" cy="868680"/>
          </a:xfrm>
          <a:prstGeom prst="roundRect">
            <a:avLst>
              <a:gd name="adj" fmla="val 8421"/>
            </a:avLst>
          </a:prstGeom>
          <a:solidFill>
            <a:srgbClr val="FCEB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88352" y="5349240"/>
            <a:ext cx="40233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D95926"/>
                </a:solidFill>
                <a:latin typeface="Calibri"/>
              </a:rPr>
              <a:t>Cuidado: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verde e vermelho juntos falham para quem tem daltonismo.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2497996"/>
            <a:ext cx="6455664" cy="2913567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cat_pale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71148"/>
            <a:ext cx="6309360" cy="27672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3987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Calibri"/>
              </a:rPr>
              <a:t>SEÇÃO 1 · CONCEITOS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O que evitar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" y="1691640"/>
            <a:ext cx="3566160" cy="37947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E7_ru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873851"/>
            <a:ext cx="3200400" cy="20587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" y="4114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3"/>
                </a:solidFill>
                <a:latin typeface="Calibri"/>
              </a:rPr>
              <a:t>Pizza com muitas fatias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" y="45720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Ninguém compara ângulos. Use barras ordenadas.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691640"/>
            <a:ext cx="3566160" cy="37947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E1_ru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396" y="1828800"/>
            <a:ext cx="2721864" cy="2148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44568" y="4114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3"/>
                </a:solidFill>
                <a:latin typeface="Calibri"/>
              </a:rPr>
              <a:t>Eixo truncado e cor sem função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45720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Exagera diferenças e obriga a decorar a legenda.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691640"/>
            <a:ext cx="3566160" cy="3794760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6_ru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7" y="1873851"/>
            <a:ext cx="3200400" cy="20587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93608" y="41148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F2933"/>
                </a:solidFill>
                <a:latin typeface="Calibri"/>
              </a:rPr>
              <a:t>Arco-íris em valor absoluto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45720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Sem ordem natural e mostra só onde há mais gente.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95926"/>
                </a:solidFill>
                <a:latin typeface="Calibri"/>
              </a:rPr>
              <a:t>Também: </a:t>
            </a:r>
            <a:r>
              <a:rPr sz="1600" b="0" i="0">
                <a:solidFill>
                  <a:srgbClr val="1F2933"/>
                </a:solidFill>
                <a:latin typeface="Calibri"/>
              </a:rPr>
              <a:t>gráficos 3D, eixo duplo, rótulo em cada ponto e barras de tamanhos diferentes.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5926"/>
                </a:solidFill>
                <a:latin typeface="Calibri"/>
              </a:rPr>
              <a:t>SEÇÃO 2 ·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A base: PIB e população dos municípios (IBGE)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39112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D95926"/>
                </a:solidFill>
                <a:latin typeface="Calibri"/>
              </a:rPr>
              <a:t>5.570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municípios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783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039112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D95926"/>
                </a:solidFill>
                <a:latin typeface="Calibri"/>
              </a:rPr>
              <a:t>R$ 9,0 tri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803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PIB do Brasil em 2021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13632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D95926"/>
                </a:solidFill>
                <a:latin typeface="Calibri"/>
              </a:rPr>
              <a:t>213 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548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habitantes (estimativa)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6576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3913632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D95926"/>
                </a:solidFill>
                <a:latin typeface="Calibri"/>
              </a:rPr>
              <a:t>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7548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unidades da federação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83080"/>
            <a:ext cx="5239512" cy="2788920"/>
          </a:xfrm>
          <a:prstGeom prst="roundRect">
            <a:avLst>
              <a:gd name="adj" fmla="val 3278"/>
            </a:avLst>
          </a:prstGeom>
          <a:solidFill>
            <a:srgbClr val="0B1F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9659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9FB3C8"/>
                </a:solidFill>
                <a:latin typeface="Calibri"/>
              </a:rPr>
              <a:t>COMO RODAR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423160"/>
            <a:ext cx="47548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FFFFFF"/>
                </a:solidFill>
                <a:latin typeface="Courier New"/>
              </a:rPr>
              <a:t>pip install -r requirements.txt</a:t>
            </a:r>
          </a:p>
          <a:p>
            <a:pPr algn="l">
              <a:spcAft>
                <a:spcPts val="1400"/>
              </a:spcAft>
            </a:pPr>
            <a:r>
              <a:rPr sz="1600" b="0" i="0">
                <a:solidFill>
                  <a:srgbClr val="FFFFFF"/>
                </a:solidFill>
                <a:latin typeface="Courier New"/>
              </a:rPr>
              <a:t>python baixar_dados.py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ourier New"/>
              </a:rPr>
              <a:t>streamlit run app.py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00600"/>
            <a:ext cx="523951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770"/>
                </a:solidFill>
                <a:latin typeface="Calibri"/>
              </a:rPr>
              <a:t>Fonte: IBGE, SIDRA. Tabelas 5938 (PIB e valor adicionado), 6579 (população estimada) e 4714 (área).</a:t>
            </a:r>
          </a:p>
          <a:p>
            <a:pPr algn="l"/>
            <a:r>
              <a:rPr sz="1400" b="0" i="0">
                <a:solidFill>
                  <a:srgbClr val="5B6770"/>
                </a:solidFill>
                <a:latin typeface="Calibri"/>
              </a:rPr>
              <a:t>Limites dos estados: malha do IBGE. Detalhes em dados/FONTES.md.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5926"/>
                </a:solidFill>
                <a:latin typeface="Calibri"/>
              </a:rPr>
              <a:t>SEÇÃO 2 ·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Barras: ordenar, base zero e uma cor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95926"/>
                </a:solidFill>
                <a:latin typeface="Calibri"/>
              </a:rPr>
              <a:t>Pergunta: </a:t>
            </a:r>
            <a:r>
              <a:rPr sz="1800" b="0" i="0">
                <a:solidFill>
                  <a:srgbClr val="1F2933"/>
                </a:solidFill>
                <a:latin typeface="Calibri"/>
              </a:rPr>
              <a:t>Quais UFs têm o maior PIB?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8641" y="2029967"/>
            <a:ext cx="4454956" cy="3547872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E1_ru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793" y="2103120"/>
            <a:ext cx="4308652" cy="34015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18641" y="17373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9A2B2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87921" y="2029967"/>
            <a:ext cx="4454956" cy="3547872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E1_b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073" y="2103120"/>
            <a:ext cx="4308652" cy="340156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87921" y="17373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DEPOIS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5926"/>
                </a:solidFill>
                <a:latin typeface="Calibri"/>
              </a:rPr>
              <a:t>Dado-chave: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São Paulo, R$ 2.720 bi; Goiás é a 9ª com R$ 270 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987E5"/>
                </a:solidFill>
                <a:latin typeface="Calibri"/>
              </a:rPr>
              <a:t>O que mudou: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ordenar · base em zero · uma cor · valor na barra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5926"/>
                </a:solidFill>
                <a:latin typeface="Calibri"/>
              </a:rPr>
              <a:t>SEÇÃO 2 ·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Linhas: destacar poucas séries e rotular direto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16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95926"/>
                </a:solidFill>
                <a:latin typeface="Calibri"/>
              </a:rPr>
              <a:t>Pergunta: </a:t>
            </a:r>
            <a:r>
              <a:rPr sz="1800" b="0" i="0">
                <a:solidFill>
                  <a:srgbClr val="1F2933"/>
                </a:solidFill>
                <a:latin typeface="Calibri"/>
              </a:rPr>
              <a:t>Como o PIB de cada UF evoluiu desde 2002?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021" y="2029967"/>
            <a:ext cx="5434196" cy="3547872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E2_ru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73" y="2103120"/>
            <a:ext cx="5287892" cy="34015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29021" y="17373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9A2B2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8301" y="2029967"/>
            <a:ext cx="5434196" cy="3547872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E2_b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453" y="2103120"/>
            <a:ext cx="5287892" cy="340156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98301" y="17373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DEPOIS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5926"/>
                </a:solidFill>
                <a:latin typeface="Calibri"/>
              </a:rPr>
              <a:t>Dado-chave: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Brasil 735 e Goiás 872 (índice, 2002 = 100, nominal)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987E5"/>
                </a:solidFill>
                <a:latin typeface="Calibri"/>
              </a:rPr>
              <a:t>O que mudou: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poucas séries · índice base 100 · rótulo direto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5926"/>
                </a:solidFill>
                <a:latin typeface="Calibri"/>
              </a:rPr>
              <a:t>SEÇÃO 2 ·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Histograma: a escala log revela a 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95926"/>
                </a:solidFill>
                <a:latin typeface="Calibri"/>
              </a:rPr>
              <a:t>Pergunta: </a:t>
            </a:r>
            <a:r>
              <a:rPr sz="1800" b="0" i="0">
                <a:solidFill>
                  <a:srgbClr val="1F2933"/>
                </a:solidFill>
                <a:latin typeface="Calibri"/>
              </a:rPr>
              <a:t>Como se distribui o PIB per capita dos municípios?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021" y="2029967"/>
            <a:ext cx="5434196" cy="3547872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E3_ru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73" y="2103120"/>
            <a:ext cx="5287892" cy="34015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29021" y="17373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9A2B2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8301" y="2029967"/>
            <a:ext cx="5434196" cy="3547872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E3_b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453" y="2103120"/>
            <a:ext cx="5287892" cy="340156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98301" y="17373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DEPOIS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5926"/>
                </a:solidFill>
                <a:latin typeface="Calibri"/>
              </a:rPr>
              <a:t>Dado-chave: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mediana R$ 23 mil; máximo R$ 921 mil, 39 vezes a mediana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987E5"/>
                </a:solidFill>
                <a:latin typeface="Calibri"/>
              </a:rPr>
              <a:t>O que mudou: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escala log · 40 faixas · mediana marcada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5926"/>
                </a:solidFill>
                <a:latin typeface="Calibri"/>
              </a:rPr>
              <a:t>SEÇÃO 2 ·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Box plot: eixo log e ordem pela mediana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95926"/>
                </a:solidFill>
                <a:latin typeface="Calibri"/>
              </a:rPr>
              <a:t>Pergunta: </a:t>
            </a:r>
            <a:r>
              <a:rPr sz="1800" b="0" i="0">
                <a:solidFill>
                  <a:srgbClr val="1F2933"/>
                </a:solidFill>
                <a:latin typeface="Calibri"/>
              </a:rPr>
              <a:t>Como o PIB per capita varia entre as regiões?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021" y="2029967"/>
            <a:ext cx="5434196" cy="3547872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E4_ru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73" y="2103120"/>
            <a:ext cx="5287892" cy="34015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29021" y="17373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9A2B2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8301" y="2029967"/>
            <a:ext cx="5434196" cy="3547872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E4_b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453" y="2103120"/>
            <a:ext cx="5287892" cy="340156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98301" y="17373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DEPOIS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5926"/>
                </a:solidFill>
                <a:latin typeface="Calibri"/>
              </a:rPr>
              <a:t>Dado-chave: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mediana de R$ 43 mil no Sul e R$ 11 mil no Nordeste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987E5"/>
                </a:solidFill>
                <a:latin typeface="Calibri"/>
              </a:rPr>
              <a:t>O que mudou: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eixo log · ordem pela mediana · uma cor de destaque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5926"/>
                </a:solidFill>
                <a:latin typeface="Calibri"/>
              </a:rPr>
              <a:t>SEÇÃO 2 ·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Dispersão: log-log, transparência e retas de referência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19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95926"/>
                </a:solidFill>
                <a:latin typeface="Calibri"/>
              </a:rPr>
              <a:t>Pergunta: </a:t>
            </a:r>
            <a:r>
              <a:rPr sz="1800" b="0" i="0">
                <a:solidFill>
                  <a:srgbClr val="1F2933"/>
                </a:solidFill>
                <a:latin typeface="Calibri"/>
              </a:rPr>
              <a:t>População e PIB andam juntos?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021" y="2029967"/>
            <a:ext cx="5434196" cy="3547872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E5_ru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73" y="2103120"/>
            <a:ext cx="5287892" cy="34015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29021" y="17373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9A2B2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8301" y="2029967"/>
            <a:ext cx="5434196" cy="3547872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E5_b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453" y="2103120"/>
            <a:ext cx="5287892" cy="340156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98301" y="17373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DEPOIS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5926"/>
                </a:solidFill>
                <a:latin typeface="Calibri"/>
              </a:rPr>
              <a:t>Dado-chave: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Catas Altas (MG) tem R$ 921 mil por habitante com 5.465 moradores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987E5"/>
                </a:solidFill>
                <a:latin typeface="Calibri"/>
              </a:rPr>
              <a:t>O que mudou: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log-log · transparência · retas de referência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5926"/>
                </a:solidFill>
                <a:latin typeface="Calibri"/>
              </a:rPr>
              <a:t>SEÇÃO 2 ·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Mapa: per capita, um matiz e faixas por quantis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20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95926"/>
                </a:solidFill>
                <a:latin typeface="Calibri"/>
              </a:rPr>
              <a:t>Pergunta: </a:t>
            </a:r>
            <a:r>
              <a:rPr sz="1800" b="0" i="0">
                <a:solidFill>
                  <a:srgbClr val="1F2933"/>
                </a:solidFill>
                <a:latin typeface="Calibri"/>
              </a:rPr>
              <a:t>Onde o PIB por habitante é maior?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021" y="2029967"/>
            <a:ext cx="5434196" cy="3547872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E6_ru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73" y="2103120"/>
            <a:ext cx="5287892" cy="34015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29021" y="17373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9A2B2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8301" y="2029967"/>
            <a:ext cx="5434196" cy="3547872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E6_b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453" y="2103120"/>
            <a:ext cx="5287892" cy="340156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98301" y="17373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DEPOIS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5926"/>
                </a:solidFill>
                <a:latin typeface="Calibri"/>
              </a:rPr>
              <a:t>Dado-chave: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o PIB per capita vai de R$ 17 mil (MA) a R$ 93 mil (DF)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987E5"/>
                </a:solidFill>
                <a:latin typeface="Calibri"/>
              </a:rPr>
              <a:t>O que mudou: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per capita · um matiz · 5 faixas por quantis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5926"/>
                </a:solidFill>
                <a:latin typeface="Calibri"/>
              </a:rPr>
              <a:t>SEÇÃO 2 ·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Composição: Top 8 e 'Demais' em vez de 27 fatias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21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95926"/>
                </a:solidFill>
                <a:latin typeface="Calibri"/>
              </a:rPr>
              <a:t>Pergunta: </a:t>
            </a:r>
            <a:r>
              <a:rPr sz="1800" b="0" i="0">
                <a:solidFill>
                  <a:srgbClr val="1F2933"/>
                </a:solidFill>
                <a:latin typeface="Calibri"/>
              </a:rPr>
              <a:t>Quanto cada UF pesa no PIB do Brasil?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021" y="2029967"/>
            <a:ext cx="5434196" cy="3547872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E7_ru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73" y="2103120"/>
            <a:ext cx="5287892" cy="34015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29021" y="17373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9A2B2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8301" y="2029967"/>
            <a:ext cx="5434196" cy="3547872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E7_b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453" y="2103120"/>
            <a:ext cx="5287892" cy="340156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98301" y="17373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DEPOIS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5926"/>
                </a:solidFill>
                <a:latin typeface="Calibri"/>
              </a:rPr>
              <a:t>Dado-chave: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SP, RJ, MG somam 50,2% do PIB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987E5"/>
                </a:solidFill>
                <a:latin typeface="Calibri"/>
              </a:rPr>
              <a:t>O que mudou: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Top 8 e 'Demais' · barras ordenadas · frase-conclusão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5926"/>
                </a:solidFill>
                <a:latin typeface="Calibri"/>
              </a:rPr>
              <a:t>SEÇÃO 2 ·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Heatmap: percentuais, um matiz e números na célula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22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D95926"/>
                </a:solidFill>
                <a:latin typeface="Calibri"/>
              </a:rPr>
              <a:t>Pergunta: </a:t>
            </a:r>
            <a:r>
              <a:rPr sz="1800" b="0" i="0">
                <a:solidFill>
                  <a:srgbClr val="1F2933"/>
                </a:solidFill>
                <a:latin typeface="Calibri"/>
              </a:rPr>
              <a:t>Qual a estrutura econômica de cada UF?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8641" y="2029967"/>
            <a:ext cx="4454956" cy="3547872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E8_ru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793" y="2103120"/>
            <a:ext cx="4308652" cy="34015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18641" y="17373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9A2B2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87921" y="2029967"/>
            <a:ext cx="4454956" cy="3547872"/>
          </a:xfrm>
          <a:prstGeom prst="roundRect">
            <a:avLst>
              <a:gd name="adj" fmla="val 2061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E8_b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073" y="2103120"/>
            <a:ext cx="4308652" cy="340156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87921" y="173736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DEPOIS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5926"/>
                </a:solidFill>
                <a:latin typeface="Calibri"/>
              </a:rPr>
              <a:t>Dado-chave: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a administração pública pesa 46% do valor adicionado no AP e 9% em 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89320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987E5"/>
                </a:solidFill>
                <a:latin typeface="Calibri"/>
              </a:rPr>
              <a:t>O que mudou: </a:t>
            </a:r>
            <a:r>
              <a:rPr sz="1500" b="0" i="0">
                <a:solidFill>
                  <a:srgbClr val="1F2933"/>
                </a:solidFill>
                <a:latin typeface="Calibri"/>
              </a:rPr>
              <a:t>percentuais · um matiz · número na célula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5926"/>
                </a:solidFill>
                <a:latin typeface="Calibri"/>
              </a:rPr>
              <a:t>SEÇÃO 2 ·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As mesmas figuras nos temas claro e escuro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23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3987E5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Tema claro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06524" y="1527048"/>
            <a:ext cx="3273552" cy="2157984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E3_b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76" y="1600200"/>
            <a:ext cx="3127248" cy="2011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198364" y="1527048"/>
            <a:ext cx="3273552" cy="2157984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E4_b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1600200"/>
            <a:ext cx="3127248" cy="20116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490204" y="1527048"/>
            <a:ext cx="3273552" cy="2157984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E6_b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3356" y="1600200"/>
            <a:ext cx="3127248" cy="20116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8640" y="4526279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B1F3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Tema escuro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06524" y="3675887"/>
            <a:ext cx="3273552" cy="2157984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E3_bom_escu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9676" y="3749039"/>
            <a:ext cx="3127248" cy="201168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198364" y="3675887"/>
            <a:ext cx="3273552" cy="2157984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E4_bom_escu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1516" y="3749039"/>
            <a:ext cx="3127248" cy="201168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490204" y="3675887"/>
            <a:ext cx="3273552" cy="2157984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12700">
            <a:solidFill>
              <a:srgbClr val="D9E0E7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E6_bom_escur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3356" y="3749039"/>
            <a:ext cx="3127248" cy="20116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B6770"/>
                </a:solidFill>
                <a:latin typeface="Calibri"/>
              </a:rPr>
              <a:t>Sem detectar o tema: fundo transparente, texto herdado, cores com contraste ≥ 3:1 nos dois fundos e cinzas translúcidos.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32918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5926"/>
                </a:solidFill>
                <a:latin typeface="Calibri"/>
              </a:rPr>
              <a:t>SEÇÃO 2 · NA PRÁTICA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F2933"/>
                </a:solidFill>
                <a:latin typeface="Calibri"/>
              </a:rPr>
              <a:t>Checklist de boas práticas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770"/>
                </a:solidFill>
                <a:latin typeface="Calibri"/>
              </a:rPr>
              <a:t>Boas práticas de visualização de dados · dados do IBGE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46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770"/>
                </a:solidFill>
                <a:latin typeface="Calibri"/>
              </a:rPr>
              <a:t>24 / 24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1709928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Qual é a pergunta?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34639"/>
            <a:ext cx="502920" cy="502920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34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2807208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O tipo de gráfico responde a ela?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931920"/>
            <a:ext cx="502920" cy="502920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3904487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Barras começam em zero?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029200"/>
            <a:ext cx="502920" cy="502920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5001768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Ordenei e destaquei só o essencial?</a:t>
            </a:r>
          </a:p>
        </p:txBody>
      </p:sp>
      <p:sp>
        <p:nvSpPr>
          <p:cNvPr id="19" name="Oval 18"/>
          <p:cNvSpPr/>
          <p:nvPr/>
        </p:nvSpPr>
        <p:spPr>
          <a:xfrm>
            <a:off x="3977639" y="1737360"/>
            <a:ext cx="502920" cy="502920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39" y="17373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1709928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Normalizei (per capita, %)?</a:t>
            </a:r>
          </a:p>
        </p:txBody>
      </p:sp>
      <p:sp>
        <p:nvSpPr>
          <p:cNvPr id="22" name="Oval 21"/>
          <p:cNvSpPr/>
          <p:nvPr/>
        </p:nvSpPr>
        <p:spPr>
          <a:xfrm>
            <a:off x="3977639" y="2834639"/>
            <a:ext cx="502920" cy="502920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2834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7" y="2807208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As cores têm função e são acessíveis?</a:t>
            </a:r>
          </a:p>
        </p:txBody>
      </p:sp>
      <p:sp>
        <p:nvSpPr>
          <p:cNvPr id="25" name="Oval 24"/>
          <p:cNvSpPr/>
          <p:nvPr/>
        </p:nvSpPr>
        <p:spPr>
          <a:xfrm>
            <a:off x="3977639" y="3931920"/>
            <a:ext cx="502920" cy="502920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39" y="39319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7" y="3904487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Rótulos e unidades estão claros?</a:t>
            </a:r>
          </a:p>
        </p:txBody>
      </p:sp>
      <p:sp>
        <p:nvSpPr>
          <p:cNvPr id="28" name="Oval 27"/>
          <p:cNvSpPr/>
          <p:nvPr/>
        </p:nvSpPr>
        <p:spPr>
          <a:xfrm>
            <a:off x="3977639" y="5029200"/>
            <a:ext cx="502920" cy="502920"/>
          </a:xfrm>
          <a:prstGeom prst="ellipse">
            <a:avLst/>
          </a:prstGeom>
          <a:solidFill>
            <a:srgbClr val="D9592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39" y="5029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7" y="5001768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F2933"/>
                </a:solidFill>
                <a:latin typeface="Calibri"/>
              </a:rPr>
              <a:t>Funciona em tema claro e escuro e há tabela?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1691640"/>
            <a:ext cx="4050791" cy="4526280"/>
          </a:xfrm>
          <a:prstGeom prst="roundRect">
            <a:avLst>
              <a:gd name="adj" fmla="val 2257"/>
            </a:avLst>
          </a:prstGeom>
          <a:solidFill>
            <a:srgbClr val="F1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1874519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95926"/>
                </a:solidFill>
                <a:latin typeface="Calibri"/>
              </a:rPr>
              <a:t>FONTES E LEITURA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2331720"/>
            <a:ext cx="356616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IBGE, SIDRA: PIB dos Municípios (t. 5938), população estimada (t. 6579), área (t. 4714).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IBGE, malha estadual (GeoJSON).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Wilke, C. Fundamentals of Data Visualization. O'Reilly, 2019.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1F2933"/>
                </a:solidFill>
                <a:latin typeface="Calibri"/>
              </a:rPr>
              <a:t>Cairo, A. The Truthful Art. New Riders, 2016.</a:t>
            </a:r>
          </a:p>
          <a:p>
            <a:pPr algn="l"/>
            <a:r>
              <a:rPr sz="1300" b="0" i="0">
                <a:solidFill>
                  <a:srgbClr val="1F2933"/>
                </a:solidFill>
                <a:latin typeface="Calibri"/>
              </a:rPr>
              <a:t>Tufte, E. The Visual Display of Quantitative Information. Graphics Press, 1983.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